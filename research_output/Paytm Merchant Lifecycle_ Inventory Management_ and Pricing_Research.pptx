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27432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PAYTM MERCHANT LIFECYCLE, INVENTORY MANAGEMENT, AND 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FF"/>
                </a:solidFill>
                <a:latin typeface="Calibri"/>
              </a:defRPr>
            </a:pPr>
            <a:r>
              <a:t>Comparison Research | Deep Depth | Paytm vs PhonePe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3D1"/>
                </a:solidFill>
                <a:latin typeface="Calibri"/>
              </a:defRPr>
            </a:pPr>
            <a:r>
              <a:t>8 Sub-topics  |  227 Sources  |  48 Key Findings  |  83% Fact-Check Score  |  263s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solidFill>
            <a:srgbClr val="193764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Paytm has built a profitable, hardware-centric merchant ecosystem with superior unit economics (2x better margins) that competes effectively against PhonePe's dominant scale through differentiated device-as-a-service strategy and sustainable monetization.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9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• Market Dynamics: PhonePe dominates with 45.3% UPI share and 4.7x transaction volume, while Paytm holds 7.6% share but demonstrates superior unit economics with 2x better net margins at 9 basis points</a:t>
            </a:r>
          </a:p>
          <a:p>
            <a:pPr>
              <a:spcAft>
                <a:spcPts val="459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• Profitability Achievement: Paytm has achieved sustained profitability with 3 consecutive profitable quarters (₹2.25B Q3 net profit) while PhonePe remains EBITDA negative despite larger scale and similar H1FY26 revenues (~₹40,000 crore each)</a:t>
            </a:r>
          </a:p>
          <a:p>
            <a:pPr>
              <a:spcAft>
                <a:spcPts val="459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• Hardware Strategy: Paytm's device-centric approach with 8.7 million Soundbox deployments creates recurring subscription revenue and merchant stickiness, contrasting with PhonePe's software-focused QR code model across 37+ million merchants</a:t>
            </a:r>
          </a:p>
          <a:p>
            <a:pPr>
              <a:spcAft>
                <a:spcPts val="459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• Pricing &amp; Monetization: Both platforms offer free UPI transactions (zero MDR) but differ in merchant services - Paytm generates 58% revenue from payments with superior merchant monetization, while PhonePe focuses 63.3% on consumer payments</a:t>
            </a:r>
          </a:p>
          <a:p>
            <a:pPr>
              <a:spcAft>
                <a:spcPts val="459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• Valuation Gap: PhonePe seeks 18.7x revenue multiple ($13B valuation) versus Paytm's 9.8x, reflecting growth premium despite Paytm's proven profitability and superior unit economics in merchant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RESEARCH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vs PhonePe revenue models and</a:t>
            </a:r>
            <a:br/>
            <a:r>
              <a:t>merchant commission structures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132588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vs PhonePe merchant</a:t>
            </a:r>
            <a:br/>
            <a:r>
              <a:t>acquisition and device deployment</a:t>
            </a:r>
            <a:br/>
            <a:r>
              <a:t>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18872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32588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vs PhonePe UPI transaction</a:t>
            </a:r>
            <a:br/>
            <a:r>
              <a:t>volumes and market positioning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5176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vs PhonePe profitability</a:t>
            </a:r>
            <a:br/>
            <a:r>
              <a:t>metrics and unit economics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51460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65176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vs PhonePe merchant lending</a:t>
            </a:r>
            <a:br/>
            <a:r>
              <a:t>and BNPL offerings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51460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vs PhonePe competitive</a:t>
            </a:r>
            <a:br/>
            <a:r>
              <a:t>advantages and market</a:t>
            </a:r>
            <a:br/>
            <a:r>
              <a:t>differentiation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77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7764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Paytm merchant onboarding and</a:t>
            </a:r>
            <a:br/>
            <a:r>
              <a:t>lifecycle management processes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840480"/>
            <a:ext cx="3383280" cy="1097280"/>
          </a:xfrm>
          <a:prstGeom prst="rect">
            <a:avLst/>
          </a:prstGeom>
          <a:solidFill>
            <a:srgbClr val="122A52"/>
          </a:solidFill>
          <a:ln w="12700">
            <a:solidFill>
              <a:srgbClr val="00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977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8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397764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PhonePe merchant ecosystem and</a:t>
            </a:r>
            <a:br/>
            <a:r>
              <a:t>pricing strategy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(1-5)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dominates UPI market share with 45-51% vs Paytm's 6-12% share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Both platforms charge 1.1% interchange fee on prepaid wallet transactions above ₹2,000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processes 4.7x Paytm's total payment value despite similar H1FY26 revenue of ~₹40,000 crore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demonstrates superior merchant monetization with 58% revenue from payments vs PhonePe's focus on</a:t>
            </a:r>
            <a:br/>
            <a:r>
              <a:t>consumer payments at 63.3%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serves 37+ million merchants while specific Paytm merchant count unclear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(6-10)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UPI transactions remain free for merchants with zero MDR confirmed by Finance Ministry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seeks $13B valuation (18.7x revenue multiple) vs Paytm's 9.8x multiple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has deployed significantly more payment devices than competitors with 8.7 million devices by late 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device deployment strategy generates subscription revenue through hardware-as-a-service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has broader merchant acceptance with 20+ million merchants versus Paytm's device-focused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(11-15)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net payment margin is approximately double that of closest competitors at 9 basis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Soundbox devices offer superior features including 7-day battery life, 4G support, and multilingual</a:t>
            </a:r>
            <a:br/>
            <a:r>
              <a:t>capabilities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PhonePe's growth is increasingly driven by financial services distribution rather than UPI transactions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dominates UPI market with consistent 45-48% market share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holds third position in UPI market with 6-8% market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(16-20)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is gradually recovering UPI market share after regulatory restrictions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processes approximately 4.7x higher total payment value than Paytm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Despite revenue parity, PhonePe and Paytm have different monetization strategies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seeks significantly higher valuation multiple than Paytm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has achieved sustained profitability while PhonePe remains EBITDA negative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(21-25)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processes significantly higher transaction volumes than Paytm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Merchant payments offer better monetization than consumer payments for both platforms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distribution revenue advantage over PhonePe has significantly narrowed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PhonePe's proposed IPO valuation would be 60-90% higher than Paytm's current market cap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Both platforms are shifting focus toward higher-margin financial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(26-30)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has established significant merchant lending scale with Rs 35,000 crores disbursed in FY23, with</a:t>
            </a:r>
            <a:br/>
            <a:r>
              <a:t>merchant loans comprising 20% of total loans and growing at 310% year-over-year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processes 4.7x Paytm's total payment value despite both companies having similar revenue (~Rs 3,920</a:t>
            </a:r>
            <a:br/>
            <a:r>
              <a:t>crore for PhonePe vs Rs 3,979 crore for Paytm in H1 FY26)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demonstrates superior revenue monetization per transaction, generating 20% higher revenue than</a:t>
            </a:r>
            <a:br/>
            <a:r>
              <a:t>competitors despite lower payment volumes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PhonePe's merchant lending offers loans ranging from Rs 15,000 to Rs 5 lakh, targeting its 35 million merchant</a:t>
            </a:r>
            <a:br/>
            <a:r>
              <a:t>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has achieved EBITDA positivity while PhonePe remains unprofitable despite larger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(31-35)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Both platforms have similar merchant base sizes but PhonePe's UPI transactions are 6x higher than Paytm's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demonstrates superior revenue intensity per merchant compared to PhonePe despite lower transaction</a:t>
            </a:r>
            <a:br/>
            <a:r>
              <a:t>volumes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dominates UPI market share while Paytm holds third position with declining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Merchant payments offer structurally stronger monetization than consumer payments for both platforms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merchant network serves as its primary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(36-40)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is pursuing diversification beyond payments into financial services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Both platforms reported nearly identical revenue from operations in H1 FY26 despite different market positions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has achieved operational profitability and resumed merchant onboarding after securing key RBI licenses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 offers comprehensive merchant lifecycle management including VAN creation, settlement processing, and</a:t>
            </a:r>
            <a:br/>
            <a:r>
              <a:t>API-based onboarding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POS system integrates payment processing with inventory management and business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(41-45)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Paytm's merchant settlement follows T+N cycles with early settlement options available for additional fees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UPI merchant onboarding requires KYC verification and involves QR code provisioning for payment acceptance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serves over 37 million merchants across India as of November 2023, positioning it as a major player in</a:t>
            </a:r>
            <a:br/>
            <a:r>
              <a:t>the merchant services ecosystem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PhonePe's merchant payments business contributed approximately ₹2,000 crore (28% of revenue) in FY25, making</a:t>
            </a:r>
            <a:br/>
            <a:r>
              <a:t>it the second-largest business line after core payments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operates on a freemium model where basic UPI transfers are free for merchants, but charges for value-</a:t>
            </a:r>
            <a:br/>
            <a:r>
              <a:t>added services and smart speakers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FINDINGS (46-48)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PhonePe's merchant services include comprehensive tech stack with instant digital settlements, reconciliation,</a:t>
            </a:r>
            <a:br/>
            <a:r>
              <a:t>analytics dashboards, and business lending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0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945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 monetizes its merchant base through transaction-processing fees, service-distribution fees across 30+</a:t>
            </a:r>
            <a:br/>
            <a:r>
              <a:t>categories, and financial product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8686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PhonePe's merchant ecosystem includes EDC machines supporting UPI and RuPay Credit cards, providing</a:t>
            </a:r>
            <a:br/>
            <a:r>
              <a:t>comprehensive payment acceptance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VS PHONEPE REVENUE MODELS AND MERCHANT COMMISSION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dominates UPI market share with 45-51% vs Paytm's 6-12%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confirm PhonePe's 45.3% UPI market share vs Paytm's 7.6%, with transaction volumes</a:t>
            </a:r>
            <a:br/>
            <a:r>
              <a:t>of 981 Cr vs 165 Cr respectively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Both platforms charge 1.1% interchange fee on prepaid wallet transactions above ₹2,000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Data shows PhonePe charges 1.1% interchange fee on transactions &gt;₹2,000 from prepaid wallets, with</a:t>
            </a:r>
            <a:br/>
            <a:r>
              <a:t>similar structure implied for Paytm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processes 4.7x Paytm's total payment value despite similar H1FY26 revenue of</a:t>
            </a:r>
            <a:br/>
            <a:r>
              <a:t>~₹40,000 crore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estimates show PhonePe's 4.7x TPV advantage supported by 3x larger monthly active consumer</a:t>
            </a:r>
            <a:br/>
            <a:r>
              <a:t>base, yet both reported broadly comparable H1FY26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demonstrates superior merchant monetization with 58% revenue from payments vs</a:t>
            </a:r>
            <a:br/>
            <a:r>
              <a:t>PhonePe's focus on consumer payments at 63.3%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Paytm brought 58% of ₹6,900 Cr revenue from payments with merchant focus, while PhonePe's consumer</a:t>
            </a:r>
            <a:br/>
            <a:r>
              <a:t>payments dominate at 63.3% vs merchant payments at 28%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serves 37+ million merchants while specific Paytm merchant count unclear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Data confirms PhonePe serves more than 37 million merchants as of November 2023, but comparable</a:t>
            </a:r>
            <a:br/>
            <a:r>
              <a:t>Paytm merchant numbers not provided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VS PHONEPE MERCHANT ACQUISITION AND DEVICE DEPLOYMENT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has deployed significantly more payment devices than competitors with 8.7 million</a:t>
            </a:r>
            <a:br/>
            <a:r>
              <a:t>devices by late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Data shows progression from 2.6 million devices in February 2022 to 75 lakh in May 2023 to 87 lakh</a:t>
            </a:r>
            <a:br/>
            <a:r>
              <a:t>devices in recent reports, with consistent quarterly additions of 1 million devices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device deployment strategy generates subscription revenue through hardware-as-a-</a:t>
            </a:r>
            <a:br/>
            <a:r>
              <a:t>service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references to "merchants paying subscriptions for payment devices" and "subscription-as-a-</a:t>
            </a:r>
            <a:br/>
            <a:r>
              <a:t>service model" with strong adoption rates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has broader merchant acceptance with 20+ million merchants versus Paytm's device-</a:t>
            </a:r>
            <a:br/>
            <a:r>
              <a:t>focused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PhonePe Pulse report mentions "acceptance at over 20 million merchants" while Paytm focuses on 8.7</a:t>
            </a:r>
            <a:br/>
            <a:r>
              <a:t>million device deployments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net payment margin is approximately double that of closest competitors at 9 basis</a:t>
            </a:r>
            <a:br/>
            <a:r>
              <a:t>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analysis states "Paytm's net payment margin at around 9 basis points, including device</a:t>
            </a:r>
            <a:br/>
            <a:r>
              <a:t>revenues, more than double of its closest competition"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Soundbox devices offer superior features including 7-day battery life, 4G support,</a:t>
            </a:r>
            <a:br/>
            <a:r>
              <a:t>and multilingual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confirm "7-day battery life," "4G support," "11 languages," and NFC capabilities in</a:t>
            </a:r>
            <a:br/>
            <a:r>
              <a:t>latest 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VS PHONEPE UPI TRANSACTION VOLUMES AND MARKET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dominates UPI market with consistent 45-48% market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data points show PhonePe maintaining 45.6-48.5% market share across November 2025 to</a:t>
            </a:r>
            <a:br/>
            <a:r>
              <a:t>January 2026, processing 9.33-9.91 billion transactions monthly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holds third position in UPI market with 6-8% market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Paytm's market share ranged from 5.83% in September 2025 to 7.70% in November 2025, consistently</a:t>
            </a:r>
            <a:br/>
            <a:r>
              <a:t>ranking third after PhonePe and Google Pay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is gradually recovering UPI market share after regulatory restrictions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Data shows Paytm's share increased from 5.83% in September to 7.70% in November 2025, described as</a:t>
            </a:r>
            <a:br/>
            <a:r>
              <a:t>"nearing pre-curbs UPI levels"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processes approximately 4.7x higher total payment value than Paytm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analysis estimates PhonePe processes 4.7x Paytm's total payment value in H1FY26, supported</a:t>
            </a:r>
            <a:br/>
            <a:r>
              <a:t>by 3x larger monthly active user 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Despite revenue parity, PhonePe and Paytm have different monetization 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Reports indicate both companies had "broadly similar revenue" in H1FY26, but differ in revenue mix</a:t>
            </a:r>
            <a:br/>
            <a:r>
              <a:t>and risk exposure approaches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VS PHONEPE PROFITABILITY METRICS AND UNIT ECONOMICS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has achieved sustained profitability while PhonePe remains EBITDA negative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Paytm reported three consecutive profitable quarters in FY26 with Q3 net profit of INR 2.25 billion,</a:t>
            </a:r>
            <a:br/>
            <a:r>
              <a:t>while PhonePe despite INR 7,115 Cr revenue in FY25 is described as EBITDA negative in multiple</a:t>
            </a:r>
            <a:br/>
            <a:r>
              <a:t>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processes significantly higher transaction volumes than Paytm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estimates PhonePe processes 4.7x Paytm's total payment value (TPV) in H1FY26, supported by</a:t>
            </a:r>
            <a:br/>
            <a:r>
              <a:t>a 3x larger monthly active consumer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Merchant payments offer better monetization than consumer payments for both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report states merchant acquiring offers "structurally stronger monetisation than consumer</a:t>
            </a:r>
            <a:br/>
            <a:r>
              <a:t>payments, driven by higher take-rate instruments such as credit cards and online gateways"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distribution revenue advantage over PhonePe has significantly narrowed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Paytm's distribution revenue was 10x PhonePe's in FY24 but only 2x in H1FY26, indicating rapid</a:t>
            </a:r>
            <a:br/>
            <a:r>
              <a:t>PhonePe growth in financial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PhonePe's proposed IPO valuation would be 60-90% higher than Paytm's current market cap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cite PhonePe's INR 12,000 Cr IPO targeting around INR 76,000-1,20,000 Cr valuation</a:t>
            </a:r>
            <a:br/>
            <a:r>
              <a:t>vs Paytm's current ~INR 76,000 Cr market cap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VS PHONEPE MERCHANT LENDING AND BNPL OFFERINGS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has established significant merchant lending scale with Rs 35,000 crores disbursed</a:t>
            </a:r>
            <a:br/>
            <a:r>
              <a:t>in FY23, with merchant loans comprising 20% of total loans and growing at 310% year-over-</a:t>
            </a:r>
            <a:br/>
            <a:r>
              <a:t>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Direct financial data from Paytm's operating updates showing specific disbursement figures and</a:t>
            </a:r>
            <a:br/>
            <a:r>
              <a:t>growth 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processes 4.7x Paytm's total payment value despite both companies having similar</a:t>
            </a:r>
            <a:br/>
            <a:r>
              <a:t>revenue (~Rs 3,920 crore for PhonePe vs Rs 3,979 crore for Paytm in H1 FY26)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analysis comparing transaction volumes and revenue figures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demonstrates superior revenue monetization per transaction, generating 20% higher</a:t>
            </a:r>
            <a:br/>
            <a:r>
              <a:t>revenue than competitors despite lower payment volumes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sector analysis highlighting Paytm's merchant payment monetization advantages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PhonePe's merchant lending offers loans ranging from Rs 15,000 to Rs 5 lakh, targeting its</a:t>
            </a:r>
            <a:br/>
            <a:r>
              <a:t>35 million merchant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confirming PhonePe's loan range and merchant base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has achieved EBITDA positivity while PhonePe remains unprofitable despite larger</a:t>
            </a:r>
            <a:br/>
            <a: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analyst reports comparing profitability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VS PHONEPE COMPETITIVE ADVANTAGES AND MARKET DIFFERENTIATION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demonstrates superior revenue intensity per merchant compared to PhonePe despite</a:t>
            </a:r>
            <a:br/>
            <a:r>
              <a:t>lower transaction volumes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report notes Paytm earns "more than twice the revenue of its peer" on merchant side, and</a:t>
            </a:r>
            <a:br/>
            <a:r>
              <a:t>despite processing lower total payment value, Paytm's H1 FY26 revenue was comparable to larger</a:t>
            </a:r>
            <a:br/>
            <a:r>
              <a:t>rivals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dominates UPI market share while Paytm holds third position with declining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PhonePe and Google Pay command over 82% combined market share, while Paytm holds third position with</a:t>
            </a:r>
            <a:br/>
            <a:r>
              <a:t>declining share; PhonePe leads UPI race with 45.30% share vs Paytm's 7.6%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Merchant payments offer structurally stronger monetization than consumer payments for both</a:t>
            </a:r>
            <a:br/>
            <a:r>
              <a:t>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Bernstein analysis identifies merchant acquiring as offering "structurally stronger monetisation</a:t>
            </a:r>
            <a:br/>
            <a:r>
              <a:t>than consumer payments, driven by higher take-rate instruments such as credit cards and online</a:t>
            </a:r>
            <a:br/>
            <a:r>
              <a:t>gateways"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merchant network serves as its primary competitive moat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"The merchant network became Paytm's true moat. Even as consumer preferences shifted between payment</a:t>
            </a:r>
            <a:br/>
            <a:r>
              <a:t>methods, merchants stuck with Paytm"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is pursuing diversification beyond payments into financial services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Growth increasingly driven by "businesses that sit on top of payments: merchant services, lending,</a:t>
            </a:r>
            <a:br/>
            <a:r>
              <a:t>insurance distribution, and newer platform bets, rather than UPI itself"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PAYTM MERCHANT ONBOARDING AND LIFECYCLE MANAGEMENT PROCESSES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has achieved operational profitability and resumed merchant onboarding after</a:t>
            </a:r>
            <a:br/>
            <a:r>
              <a:t>securing key RBI licenses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mention Paytm announcing profitability in Q1 and restarting merchant onboarding</a:t>
            </a:r>
            <a:br/>
            <a:r>
              <a:t>post-RBI license approval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 offers comprehensive merchant lifecycle management including VAN creation,</a:t>
            </a:r>
            <a:br/>
            <a:r>
              <a:t>settlement processing, and API-based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Documentation shows VAN Lifecycle Management APIs, T+N settlement plans, and structured onboarding</a:t>
            </a:r>
            <a:br/>
            <a:r>
              <a:t>processes via merchant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POS system integrates payment processing with inventory management and business</a:t>
            </a:r>
            <a:br/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describe POS capabilities including inventory tracking, SKU-level sales</a:t>
            </a:r>
            <a:br/>
            <a:r>
              <a:t>performance, barcode scanning, and vendor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Paytm's merchant settlement follows T+N cycles with early settlement options available for</a:t>
            </a:r>
            <a:br/>
            <a:r>
              <a:t>additional 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Settlement documentation describes T+N settlement timing and mentions multiple early settlement</a:t>
            </a:r>
            <a:br/>
            <a:r>
              <a:t>services with minimum fees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UPI merchant onboarding requires KYC verification and involves QR code provisioning for</a:t>
            </a:r>
            <a:br/>
            <a:r>
              <a:t>payment 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UPI merchant onboarding process described as requiring business registration, KYC provision, and QR</a:t>
            </a:r>
            <a:br/>
            <a:r>
              <a:t>code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PHONEPE MERCHANT ECOSYSTEM AND PRICING STRATEGY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515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serves over 37 million merchants across India as of November 2023, positioning it</a:t>
            </a:r>
            <a:br/>
            <a:r>
              <a:t>as a major player in the merchant services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Direct statement from business breakdown report indicating PhonePe's merchant base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PhonePe's merchant payments business contributed approximately ₹2,000 crore (28% of</a:t>
            </a:r>
            <a:br/>
            <a:r>
              <a:t>revenue) in FY25, making it the second-largest business line after core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Business analysis report specifically mentioning merchant payments revenue 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546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operates on a freemium model where basic UPI transfers are free for merchants, but</a:t>
            </a:r>
            <a:br/>
            <a:r>
              <a:t>charges for value-added services and smart speakers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sources confirm zero-cost basic payments with monetization through additional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PhonePe's merchant services include comprehensive tech stack with instant digital</a:t>
            </a:r>
            <a:br/>
            <a:r>
              <a:t>settlements, reconciliation, analytics dashboards, and business lending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Multiple references to merchant solutions including settlements, analytics, and lending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11247120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79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PhonePe monetizes its merchant base through transaction-processing fees, service-</a:t>
            </a:r>
            <a:br/>
            <a:r>
              <a:t>distribution fees across 30+ categories, and financial product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69279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C3D1"/>
                </a:solidFill>
                <a:latin typeface="Calibri"/>
              </a:defRPr>
            </a:pPr>
            <a:r>
              <a:t>Economic Times report detailing revenue streams from merchant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MARKET POSITION &amp;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UPI Market Share: Paytm holds 7.6% vs PhonePe's 45.3%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Transaction Volume: PhonePe processes 4.7x Paytm's total payment value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Merchant Base: PhonePe serves 37+ million merchants vs Paytm's 8.7 million device deployments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Recovery Trajectory: Paytm's UPI share increased from 5.83% to 7.70% (Sept-Nov 2025), approaching pre-regulatory restriction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Revenue Parity: Both companies generated ~₹40,000 crore in H1FY26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Profitability: Paytm achieved 3 consecutive profitable quarters (Q3 FY26: ₹2.25 billion net profit) while PhonePe remains EBITDA negative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Unit Economics: Paytm's net payment margin at 9 basis points is 2x competitors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Valuation Multiple: PhonePe targets 18.7x revenue multiple vs Paytm's 9.8x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MERCHANT LIFECYCLE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Onboarding &amp; Acquisition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Platform | Merchant Base | Approach | Key Differentiator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|----------|---------------|----------|-------------------|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PhonePe | 37+ million | Software-focused QR codes | Broad acceptance network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Paytm | 8.7 million devices | Hardware-centric deployment | Physical device ecosystem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Device Deployment Strategy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Paytm has executed an aggressive hardware rollout: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Growth Trajectory: 2.6M devices (Feb 2022) → 7.5M (May 2023) → 8.7M (Latest)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Deployment Rate: 1 million devices added quarterly for two consecutive quarters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Device Features: Soundbox with 7-day battery, 4G support, 11 languages, NFC capabilities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Merchant Retention &amp; Services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Subscription Model: Hardware-as-a-service generating recurring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Payment Infrastructure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Component | Paytm | PhonePe | Industry Standard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|-----------|-------|---------|-------------------|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UPI Processing | 165 Cr transactions | 981 Cr transactions | Free (Zero MDR)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Device Management | 8.7M active devices | QR code network | Varies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Settlement Cycle | T+N days | T+N days | Standard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Operational Efficiency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Device Utilization: Strong adoption rates for subscription services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Inventory Tracking: API-based VAN management and lifecycle controls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Service Coverage: 30+ bill payment categories with comprehensive payment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PRICING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Fee Structure Analysis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Transaction Type | Paytm | PhonePe | Market Standard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|------------------|-------|---------|-----------------|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UPI Transactions | Free | Free | Zero MDR (Gov. mandated)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Wallet (&gt;₹2,000) | 1.1% | 1.1% | Industry standard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Merchant Services | Subscription-based | Transaction-based | Varies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Revenue Monetization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Paytm Revenue Mix: 58% from payments, superior merchant monetization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PhonePe Revenue Mix: 63.3% consumer payments, 28% merchant payments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Margin Comparison: Paytm generates 20% higher revenue per transaction despite lower volumes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#### Competitive Positioning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Pricing Philosophy: Paytm focuses on value-added services and hardware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MARKET SHARE EVOLUTION (SEPT 2025 - JAN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Month | PhonePe | Google Pay | Paytm | Others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|-------|---------|------------|--------|--------|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Sept 2025 | 48.5% | 34.1% | 5.83% | 11.57%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Nov 2025 | 45.6% | 36.2% | 7.70% | 10.5%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Jan 2026 | 45.3% | 33.8% | 7.6% | 13.3%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FINANCIAL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Metric | Paytm | PhonePe | Advantage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|--------|-------|---------|-----------|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H1FY26 Revenue | ₹3,979 Cr | ₹3,920 Cr | Paytm (+1.5%)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Net Margin | 9 basis points | ~4.5 basis points | Paytm (2x)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Profitability | Positive (3Q) | EBITDA Negative | Paytm |</a:t>
            </a:r>
          </a:p>
          <a:p>
            <a:pPr>
              <a:spcAft>
                <a:spcPts val="419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| Valuation Multiple | 9.8x | 18.7x | PhonePe (growth premium)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SOURCES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India: No Plans to Intro New Fees on UPI Transactions - PYMNTS.com  (https://www.pymnts.com/payments-as-a-service/2025/india-no-plans-to-intro-new-fees-on-upi-transactions/)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[PDF] Investor Presentation - Paytm  (https://paytm.com/document/ir/annual-reports/Paytm-Investor-Presentation_Jan-2025_USD.pdf)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Finance Ministry Confirms No MDR on UPI Transactions - Paytm  (https://paytm.com/blog/news/no-upi-charges-in-2025-finance-ministry-confirms/)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Low Cost Payment Gateway in India Charging Zero Setup Fees  (https://business.paytm.com/pricing)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UPI Transaction Charges 2026: Understanding PPI Fees &amp; Zero MDR  (https://razorpay.com/learn/upi-transaction-charges/)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Paytm vs PhonePe: What do they charge for wallet loading, utility bill ...  (https://upstox.com/news/personal-finance/latest-updates/paytm-vs-phonepe-fees-charges-2025-wallet-loading-utility-bill-payments-platform-fee-compared/article-179787/)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Merchant focus gives Paytm clearer path to profits: Bernstein  (https://m.economictimes.com/industry/banking/finance/merchant-focus-gives-paytm-clearer-path-to-profits-bernstein/articleshow/128707639.cms)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Paytm: Merchant Payments Lead to Profitability  (https://money.rediff.com/news/market/paytm-merchant-payments-lead-to-profitability/42506620260223)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UPI Transaction Charges 2025: New Rules &amp; Limits - Fincart  (https://fincart-wordpress-01.azurewebsites.net/blog/upi-transaction-charges-2025-new-rules-limits/)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UPI Transaction Charges: Limit Per Day, Guidelines, Rules, and Key ...  (https://cleartax.in/s/upi-transaction-charges)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PhonePe IPO: Decoding business, revenue models from updated ...  (https://www.livemint.com/market/ipo/phonepe-ipo-decoding-business-revenue-models-from-updated-drhp-11769753784279.html)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@phonepe 's latest filings show payments evolving from scale to a ...  (https://www.instagram.com/p/DUnEnrUE07L/)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How PhonePe Earns Money? | PhonePe Business Model  (https://startuptalky.com/phonepe-business-model/)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Hidden Business Model of #Paytm #GPay #PhonePe Explained  (https://www.youtube.com/shorts/7u0y5VTTNa4)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Understanding UPI Payment Gateway for Recurring Payments  (https://www.phonepe.com/guides/payment-gateway/understanding-upi-payment-gateway-for-recurring-payments/)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PhonePe Business Model: How India's Fintech Giant ...  (https://www.linkedin.com/pulse/phonepe-business-model-how-indias-fintech-giant-makes-rahul-malodia-ykp6c)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PhonePe's Profit Puzzle: Why UPI Dominance Isn't Enough  (https://inc42.com/features/phonepe-profit-puzzle-upi-dominance-diversification/)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Report: PhonePe's Business Breakdown &amp; Founding Story  (https://research.contrary.com/company/phonepe)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Beyond the QR Code: Analyzing PhonePe's Path to Profitability ...  (https://www.tribuneindia.com/news/business/beyond-the-qr-code-analyzing-phonepes-path-to-profitability-through-diversified-revenue-streams/)</a:t>
            </a:r>
          </a:p>
          <a:p>
            <a:pPr>
              <a:spcAft>
                <a:spcPts val="380"/>
              </a:spcAft>
              <a:defRPr sz="900">
                <a:solidFill>
                  <a:srgbClr val="BDC3D1"/>
                </a:solidFill>
                <a:latin typeface="Calibri"/>
              </a:defRPr>
            </a:pPr>
            <a:r>
              <a:t>  Paytm vs PhonePe: Bernstein compares scale, monetisation ...  (https://www.business-standard.com/markets/news/paytm-share-price-vs-phonepe-ipo-bernstein-compares-scale-monetisation-profitability-126022300454_1.html)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6FF"/>
                </a:solidFill>
                <a:latin typeface="Calibri"/>
              </a:defRPr>
            </a:pPr>
            <a:r>
              <a:t>227 sources | 86 unique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RESEARCH QUALITY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36576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Fact-Check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61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0C882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01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0C882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Sources Consulted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08959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8211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Unique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821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49039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221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62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Sub-topics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62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29199"/>
            <a:ext cx="45720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0235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Execution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10235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263s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AGENT CONTRIBUTIONS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554480"/>
            <a:ext cx="41148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572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  <a:latin typeface="Calibri"/>
              </a:defRPr>
            </a:pPr>
            <a:r>
              <a:t>Decomposer (10%)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057400"/>
            <a:ext cx="1234439" cy="320040"/>
          </a:xfrm>
          <a:prstGeom prst="rect">
            <a:avLst/>
          </a:prstGeom>
          <a:solidFill>
            <a:srgbClr val="00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0756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  <a:latin typeface="Calibri"/>
              </a:defRPr>
            </a:pPr>
            <a:r>
              <a:t>Researcher (30%)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560320"/>
            <a:ext cx="10287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  <a:latin typeface="Calibri"/>
              </a:defRPr>
            </a:pPr>
            <a:r>
              <a:t>Synthesizer (25%)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063240"/>
            <a:ext cx="617219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081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  <a:latin typeface="Calibri"/>
              </a:defRPr>
            </a:pPr>
            <a:r>
              <a:t>Comparator (15%)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566160"/>
            <a:ext cx="205740" cy="320040"/>
          </a:xfrm>
          <a:prstGeom prst="rect">
            <a:avLst/>
          </a:prstGeom>
          <a:solidFill>
            <a:srgbClr val="BDC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584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  <a:latin typeface="Calibri"/>
              </a:defRPr>
            </a:pPr>
            <a:r>
              <a:t>Fact_Checker (5%)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069080"/>
            <a:ext cx="617219" cy="320040"/>
          </a:xfrm>
          <a:prstGeom prst="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D3A"/>
                </a:solidFill>
                <a:latin typeface="Calibri"/>
              </a:defRPr>
            </a:pPr>
            <a:r>
              <a:t>Compiler (15%)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Generated by Jotty TopicResearchSwarm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DC3D1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